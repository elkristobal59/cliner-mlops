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3Dov8q9aUooIizsCdXJ3Y1shw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905000" y="342900"/>
            <a:ext cx="8382000" cy="400200"/>
          </a:xfrm>
          <a:prstGeom prst="roundRect">
            <a:avLst>
              <a:gd fmla="val 50000" name="adj"/>
            </a:avLst>
          </a:prstGeom>
          <a:solidFill>
            <a:srgbClr val="0F233C">
              <a:alpha val="80000"/>
            </a:srgbClr>
          </a:solidFill>
          <a:ln cap="flat" cmpd="sng" w="143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CERTFICATION</a:t>
            </a:r>
            <a:r>
              <a:rPr b="1" i="0" lang="en-US" sz="11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• ARCHITECTE EN INTELLIGENCE ARTIFICIELLE (RNCP 41993 - NIVEAU 7)</a:t>
            </a:r>
            <a:endParaRPr b="1" i="0" sz="11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914400"/>
            <a:ext cx="10363200" cy="95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🫀 CliNER-MLOps</a:t>
            </a:r>
            <a:endParaRPr b="1" i="0" sz="4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Clinical Named Entity Recognition &amp; Plateforme LLMOps</a:t>
            </a:r>
            <a:endParaRPr b="0" i="0" sz="18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286000" y="5543550"/>
            <a:ext cx="7620000" cy="609600"/>
          </a:xfrm>
          <a:prstGeom prst="rect">
            <a:avLst/>
          </a:prstGeom>
          <a:solidFill>
            <a:srgbClr val="0E1A2E">
              <a:alpha val="90196"/>
            </a:srgbClr>
          </a:solidFill>
          <a:ln cap="flat" cmpd="sng" w="143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Christopher Gilleron</a:t>
            </a:r>
            <a:endParaRPr b="0" i="0" sz="1300" u="none" cap="none" strike="noStrike">
              <a:solidFill>
                <a:srgbClr val="F1F5F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3433525" y="2264675"/>
            <a:ext cx="5143500" cy="2914800"/>
          </a:xfrm>
          <a:prstGeom prst="roundRect">
            <a:avLst>
              <a:gd fmla="val 522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Le Chaos Médical &amp; La Réponse Architecturale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686800" y="32004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0F233C"/>
          </a:solidFill>
          <a:ln cap="flat" cmpd="sng" w="127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Orateur 1 | 01:00 - 02:00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31520" y="1097280"/>
            <a:ext cx="5212080" cy="50292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❌ Le Chaos Médical (Pain Point)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Source Mondiale Inexploitable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Plus de 450 000 études sur ClinicalTrials.gov stockées dans des JSON massifs, hétérogènes et incomplets.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L'Information Noyée dans les PDFs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critères d'éligibilité cruciaux sont enfouis dans des protocoles PDF scannés de 100 à 200 pages.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Goulot d'Étranglement Clinique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médecin passe en moyenne 45 minutes par essai pour vérifier manuellement les critères d'inclusion et d'exclusion.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Impact sur les Patients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80%* des essais cliniques mondiaux accusent des retards majeurs de recrutement faute de matching automatisé.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Échec des LLMs Bruts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modèle générique (GPT-4 / Qwen base) hallucine sur les posologies, coûte trop cher en VRAM et fuit le secret médical.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217920" y="1097280"/>
            <a:ext cx="5212080" cy="50292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 Notre Solution Architecturale (MVP)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Pattern Retrieval-Augmented NER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Séparation stricte du filtrage sémantique (BioBERT) et de l'extraction chirurgicale structurée (Qwen LoRA).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Nomenclature Médicale CHIA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Extraction normalisée en JSON strict : Pathologies (Condition), Traitements (Drug), Actes (Procedure), Bilans (Measurement).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Gain de Temps x900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L'analyse complète d'un protocole passe de 45 minutes manuelles à 3 secondes d'inférence sécurisée.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Zéro Hallucination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modèle génératif est contraint par les chunks vectoriels exacts et la vérité terrain médicale.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Matching Patient Immédiat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JSON structuré permet des requêtes SQL instantanées pour croiser 10 000 dossiers patients en 0,1 seconde.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6236208"/>
            <a:ext cx="10725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8C9BAF"/>
                </a:solidFill>
                <a:latin typeface="Calibri"/>
                <a:ea typeface="Calibri"/>
                <a:cs typeface="Calibri"/>
                <a:sym typeface="Calibri"/>
              </a:rPr>
              <a:t>* Sources : Tufts CSDD (Center for the Study of Drug Development / Pr. K. Getz) &amp; Sully et al. (Trials Journal, BMC/NIH) : 80% à 86% des essais cliniques mondiaux subissent des retards critiques de recrutement.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731520" y="320040"/>
            <a:ext cx="777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Ingestion Sécurisée, ETL &amp; Data Lake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686800" y="320040"/>
            <a:ext cx="2743200" cy="502800"/>
          </a:xfrm>
          <a:prstGeom prst="roundRect">
            <a:avLst>
              <a:gd fmla="val 16667" name="adj"/>
            </a:avLst>
          </a:prstGeom>
          <a:solidFill>
            <a:srgbClr val="0F233C"/>
          </a:solidFill>
          <a:ln cap="flat" cmpd="sng" w="127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Orateur 2 | 02:00 - 03:00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31520" y="1097280"/>
            <a:ext cx="3383400" cy="53034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📥 Acquisition &amp; ETL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Voie Principale (90%)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Connexion API ClinicalTrials.gov v2 en JSON natif. Extraction instantanée en mémoire vive sans OCR (100% CPU, 0,00 €).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Voie Secondaire (PDF)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Upload praticien de protocoles scannés (50-200 pages). Parsing en flux mémoire par PyMuPDF (fitz) à 100 pages/seconde.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Normalisation UTF-8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Nettoyage du bruit, suppression des caractères d'impression et isolation des modules protocolSection.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389120" y="1097280"/>
            <a:ext cx="3383400" cy="53034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🪣 Data Lake AWS S3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Zone Bronze (Brut)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Archivage immuable des JSONs officiels et des PDFs originaux (s3://cliner-mlops/clinical_pdfs/).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Zone Gold (Artefacts)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Versionnage sécurisé des adaptateurs LoRA (models_lora/), des datasets CHIA et des tables Parquet.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Conformité Légale HDS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Obligation de rétention d'audit de 15 à 25 ans (Bonnes Pratiques Cliniques ICH E6).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FinOps S3 Glacier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Règles de cycle de vie (Lifecycle) : bascule automatique vers Glacier après 90 jours (coût divisé par 5).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046720" y="1097280"/>
            <a:ext cx="3383400" cy="53034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 Cache &amp; Résilience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Cache d'Inférence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clinical_ner_cache dans Supabase PostgreSQL pour mémoriser les extractions validées.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Signature SHA-256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Clé de hachage unique sur doc_id et pathologie pour garantir l'intégrité des résultats.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Cache Hit (0,01s)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Restitution immédiate pour le médecin sans aucun appel GPU (100% FinOps et zéro empreinte carbone).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Idempotence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Régénération fluide uniquement en cas de mise à jour du protocole par les chercheurs.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731520" y="320040"/>
            <a:ext cx="777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Moteur RAG Hybride &amp; Indexation Vectorielle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686800" y="320040"/>
            <a:ext cx="2743200" cy="502800"/>
          </a:xfrm>
          <a:prstGeom prst="roundRect">
            <a:avLst>
              <a:gd fmla="val 16667" name="adj"/>
            </a:avLst>
          </a:prstGeom>
          <a:solidFill>
            <a:srgbClr val="0F233C"/>
          </a:solidFill>
          <a:ln cap="flat" cmpd="sng" w="127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Orateur 2 | 03:00 - 04:00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1520" y="1097280"/>
            <a:ext cx="10725900" cy="27432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 Pattern Retriever-Extractor : Pourquoi BioBERT avant Qwen 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1. Chunking Sémantique Adaptatif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Découpage par RecursiveCharacterTextSplitter (1000 caractères, 200 de chevauchement) pour ne jamais scinder une posologie ou une négation.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2. Embeddings Biomédicaux BioBERT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 110M paramètres pré-entraîné sur PubMed/PMC. Encodage dense en 768 dimensions en 12 millisecondes sur CPU.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3. Vector Store Supabase pgvector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Calcul de distance cosinus (&lt;=&gt;) accéléré par index HNSW (Hierarchical Navigable Small World).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4. Filtrage Drastique du Bruit (98%)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protocole de 80 chunks est réduit aux 5 chunks critiques d'éligibilité : le LLM n'ingère que la substance pure.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31520" y="4023360"/>
            <a:ext cx="10725900" cy="23775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Comparatif Architectural : Approche Naïve vs Approche CliNER-MLOps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Approche Naïve (LLM Brut 50 pages)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 appels GPU successifs | Latence &gt; 4 minutes | Coût VRAM massif | Risque élevé d'hallucinations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Approche CliNER-MLOps (RAG + LoRA)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seul appel GPU ciblé | Latence = 3 secondes | Coût divisé par 80 | 0% d'hallucination médicale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Mutualisation pour l'Onglet 4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même index vectoriel alimente le Chatbot RAG en français pour répondre aux questions du praticien en langage naturel.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Modélisation LoRA &amp; Benchmark CHIA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686800" y="32004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0F233C"/>
          </a:solidFill>
          <a:ln cap="flat" cmpd="sng" w="127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Orateur 3 | 04:00 - 05:00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31520" y="1097280"/>
            <a:ext cx="5212080" cy="530352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🔬 Le Gold Standard Scientifique CHIA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Publication Nature Scientific Data 2020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Développé par l'Université de Columbia. Double annotation humaine certifiée par des médecins spécialistes.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Volumétrie &amp; Taxonomie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1 000 études cliniques réelles, 12 409 critères et plus de 41 000 entités cliniques étiquetées à la main.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Format ChatML &amp; Entraînement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Conversion du format BRAT en 800 dialogues instructionnels d'entraînement (train_dataset.jsonl).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Jeu de Test Isolé (200 études)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 Standard hermétique (chia_gold_standard.json) pour évaluer la généralisation sans data leakage.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Zéro Donnée Synthétique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Refus délibéré de pseudo-labeling par ChatGPT pour garantir la pureté clinique du modèle.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17920" y="1097280"/>
            <a:ext cx="5212080" cy="530352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 Architecture QLoRA &amp; Performances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Backbone Gelé en 4-bit (NF4)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Qwen2.5-7B-Instruct compressé avec bitsandbytes. VRAM réduite de 15 Go à 5 Go. Poids de base immuables.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Adaptateur LoRA Ultra-Léger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Factorisation de rang r=16, alpha=32 sur modules d'attention (q, k, v, o). Poids produit = seulement 84 Mo !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Convergence Optimale de la Loss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Entraînement en 20 minutes (SFTTrainer) : Loss stabilisée à 0.284 (certitude linguistique &gt; 95%).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F1-Score Validé : 58.3%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Évaluation stricte par Exact Matching (la plus punitive en NLP médical) avec 63.0% de précision.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Inférence vLLM PagedAttention : </a:t>
            </a:r>
            <a:r>
              <a:rPr b="0" i="0" lang="en-US" sz="14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Débit de 75 tokens/seconde, sans fragmentation de mémoire vidéo GPU.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Démonstration Live de l'Application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31520" y="1097280"/>
            <a:ext cx="5029200" cy="530352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 Parcours Utilisateur en 4 Temps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Étape 1 : Filtres Praticien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Recherche en direct sur ClinicalTrials.gov par pathologie (ex: Cancer du poumon, Diabète), phase et statut.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Étape 2 : Summary Table (RAM)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Agrégation et tri instantané des études identifiées en mémoire vive sans requête SQL superflue.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Étape 3 : Extraction NER (Onglet 3)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Inférence GPU Qwen LoRA en 3 secondes. Génération du tableau JSON structuré (Conditions, Médicaments, Seuils).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Étape 4 : Chatbot RAG (Onglet 4)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Dialogue médical en français : « Quelles sont les contre-indications cardiaques ? » avec citations des sources.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Déploiement Découplé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Streamlit sur Render connecté au backend d'inférence GPU via FastAPI.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035040" y="1097280"/>
            <a:ext cx="5394960" cy="530352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lide_4_img_2.jp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029200" cy="282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731520" y="320040"/>
            <a:ext cx="777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Architecture Système Globale &amp; Qualité CI/CD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31520" y="1097280"/>
            <a:ext cx="6393300" cy="5303400"/>
          </a:xfrm>
          <a:prstGeom prst="roundRect">
            <a:avLst>
              <a:gd fmla="val 2873" name="adj"/>
            </a:avLst>
          </a:prstGeom>
          <a:solidFill>
            <a:srgbClr val="0E1A2E"/>
          </a:solidFill>
          <a:ln cap="flat" cmpd="sng" w="143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7315200" y="1097280"/>
            <a:ext cx="4145400" cy="419100"/>
            <a:chOff x="0" y="0"/>
            <a:chExt cx="4145400" cy="419100"/>
          </a:xfrm>
        </p:grpSpPr>
        <p:sp>
          <p:nvSpPr>
            <p:cNvPr id="137" name="Google Shape;137;p7"/>
            <p:cNvSpPr/>
            <p:nvPr/>
          </p:nvSpPr>
          <p:spPr>
            <a:xfrm>
              <a:off x="0" y="0"/>
              <a:ext cx="4145400" cy="419100"/>
            </a:xfrm>
            <a:prstGeom prst="roundRect">
              <a:avLst>
                <a:gd fmla="val 22727" name="adj"/>
              </a:avLst>
            </a:prstGeom>
            <a:solidFill>
              <a:srgbClr val="0F233C"/>
            </a:solidFill>
            <a:ln cap="flat" cmpd="sng" w="9525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 txBox="1"/>
            <p:nvPr/>
          </p:nvSpPr>
          <p:spPr>
            <a:xfrm>
              <a:off x="0" y="0"/>
              <a:ext cx="4145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D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🛡️ Les Piliers Architecturaux (v10)</a:t>
              </a:r>
              <a:endParaRPr b="1" i="0" sz="1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9" name="Google Shape;139;p7"/>
          <p:cNvGrpSpPr/>
          <p:nvPr/>
        </p:nvGrpSpPr>
        <p:grpSpPr>
          <a:xfrm>
            <a:off x="7315200" y="1630680"/>
            <a:ext cx="4145400" cy="857400"/>
            <a:chOff x="0" y="0"/>
            <a:chExt cx="4145400" cy="857400"/>
          </a:xfrm>
        </p:grpSpPr>
        <p:sp>
          <p:nvSpPr>
            <p:cNvPr id="140" name="Google Shape;140;p7"/>
            <p:cNvSpPr/>
            <p:nvPr/>
          </p:nvSpPr>
          <p:spPr>
            <a:xfrm>
              <a:off x="0" y="0"/>
              <a:ext cx="4145400" cy="857400"/>
            </a:xfrm>
            <a:prstGeom prst="roundRect">
              <a:avLst>
                <a:gd fmla="val 11111" name="adj"/>
              </a:avLst>
            </a:prstGeom>
            <a:solidFill>
              <a:srgbClr val="0E1A2E"/>
            </a:solidFill>
            <a:ln cap="flat" cmpd="sng" w="14300">
              <a:solidFill>
                <a:srgbClr val="1E3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 txBox="1"/>
            <p:nvPr/>
          </p:nvSpPr>
          <p:spPr>
            <a:xfrm>
              <a:off x="133350" y="76200"/>
              <a:ext cx="3878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1" i="0" lang="en-US" sz="1450" u="none" cap="none" strike="noStrike">
                  <a:solidFill>
                    <a:srgbClr val="00D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IaC Déclaratif (Terraform)</a:t>
              </a:r>
              <a:endParaRPr b="1" i="0" sz="145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Dossier terraform/ déployant en SSL strict la base Supabase PostgreSQL, l'extension pgvector et le cron de rétention en &lt; 30s.</a:t>
              </a:r>
              <a:endParaRPr b="0" i="0" sz="135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2" name="Google Shape;142;p7"/>
          <p:cNvGrpSpPr/>
          <p:nvPr/>
        </p:nvGrpSpPr>
        <p:grpSpPr>
          <a:xfrm>
            <a:off x="7315200" y="2583180"/>
            <a:ext cx="4145400" cy="857400"/>
            <a:chOff x="0" y="0"/>
            <a:chExt cx="4145400" cy="857400"/>
          </a:xfrm>
        </p:grpSpPr>
        <p:sp>
          <p:nvSpPr>
            <p:cNvPr id="143" name="Google Shape;143;p7"/>
            <p:cNvSpPr/>
            <p:nvPr/>
          </p:nvSpPr>
          <p:spPr>
            <a:xfrm>
              <a:off x="0" y="0"/>
              <a:ext cx="4145400" cy="857400"/>
            </a:xfrm>
            <a:prstGeom prst="roundRect">
              <a:avLst>
                <a:gd fmla="val 11111" name="adj"/>
              </a:avLst>
            </a:prstGeom>
            <a:solidFill>
              <a:srgbClr val="0E1A2E"/>
            </a:solidFill>
            <a:ln cap="flat" cmpd="sng" w="14300">
              <a:solidFill>
                <a:srgbClr val="1E3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 txBox="1"/>
            <p:nvPr/>
          </p:nvSpPr>
          <p:spPr>
            <a:xfrm>
              <a:off x="133350" y="76200"/>
              <a:ext cx="3878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1" i="0" lang="en-US" sz="1450" u="none" cap="none" strike="noStrike">
                  <a:solidFill>
                    <a:srgbClr val="00D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Quality Gate CI/CD (PyTest)</a:t>
              </a:r>
              <a:endParaRPr b="1" i="0" sz="145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Workflow ci_mlops.yml validant 9 tests automatisés à chaque push (dérive, cycle EC2, S3, LoRA, CHIA).</a:t>
              </a:r>
              <a:endParaRPr b="0" i="0" sz="135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5" name="Google Shape;145;p7"/>
          <p:cNvGrpSpPr/>
          <p:nvPr/>
        </p:nvGrpSpPr>
        <p:grpSpPr>
          <a:xfrm>
            <a:off x="7315200" y="3535680"/>
            <a:ext cx="4145400" cy="857400"/>
            <a:chOff x="0" y="0"/>
            <a:chExt cx="4145400" cy="857400"/>
          </a:xfrm>
        </p:grpSpPr>
        <p:sp>
          <p:nvSpPr>
            <p:cNvPr id="146" name="Google Shape;146;p7"/>
            <p:cNvSpPr/>
            <p:nvPr/>
          </p:nvSpPr>
          <p:spPr>
            <a:xfrm>
              <a:off x="0" y="0"/>
              <a:ext cx="4145400" cy="857400"/>
            </a:xfrm>
            <a:prstGeom prst="roundRect">
              <a:avLst>
                <a:gd fmla="val 11111" name="adj"/>
              </a:avLst>
            </a:prstGeom>
            <a:solidFill>
              <a:srgbClr val="0E1A2E"/>
            </a:solidFill>
            <a:ln cap="flat" cmpd="sng" w="14300">
              <a:solidFill>
                <a:srgbClr val="1E3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 txBox="1"/>
            <p:nvPr/>
          </p:nvSpPr>
          <p:spPr>
            <a:xfrm>
              <a:off x="133350" y="76200"/>
              <a:ext cx="3878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1" i="0" lang="en-US" sz="1450" u="none" cap="none" strike="noStrike">
                  <a:solidFill>
                    <a:srgbClr val="00D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Backend Haute Performance</a:t>
              </a:r>
              <a:endParaRPr b="1" i="0" sz="145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FastAPI conteneurisé couplé à vLLM et PagedAttention avec support dynamique LoRARequest.</a:t>
              </a:r>
              <a:endParaRPr b="0" i="0" sz="135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8" name="Google Shape;148;p7"/>
          <p:cNvGrpSpPr/>
          <p:nvPr/>
        </p:nvGrpSpPr>
        <p:grpSpPr>
          <a:xfrm>
            <a:off x="7315200" y="4488180"/>
            <a:ext cx="4145400" cy="857400"/>
            <a:chOff x="0" y="0"/>
            <a:chExt cx="4145400" cy="857400"/>
          </a:xfrm>
        </p:grpSpPr>
        <p:sp>
          <p:nvSpPr>
            <p:cNvPr id="149" name="Google Shape;149;p7"/>
            <p:cNvSpPr/>
            <p:nvPr/>
          </p:nvSpPr>
          <p:spPr>
            <a:xfrm>
              <a:off x="0" y="0"/>
              <a:ext cx="4145400" cy="857400"/>
            </a:xfrm>
            <a:prstGeom prst="roundRect">
              <a:avLst>
                <a:gd fmla="val 11111" name="adj"/>
              </a:avLst>
            </a:prstGeom>
            <a:solidFill>
              <a:srgbClr val="0E1A2E"/>
            </a:solidFill>
            <a:ln cap="flat" cmpd="sng" w="14300">
              <a:solidFill>
                <a:srgbClr val="1E3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 txBox="1"/>
            <p:nvPr/>
          </p:nvSpPr>
          <p:spPr>
            <a:xfrm>
              <a:off x="133350" y="76200"/>
              <a:ext cx="3878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1" i="0" lang="en-US" sz="1450" u="none" cap="none" strike="noStrike">
                  <a:solidFill>
                    <a:srgbClr val="00D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Observabilité Centralisée</a:t>
              </a:r>
              <a:endParaRPr b="1" i="0" sz="145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Serveur MLflow sur Google Cloud Run trackant les métriques d'inférence, latence et dérive en temps réel.</a:t>
              </a:r>
              <a:endParaRPr b="0" i="0" sz="135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1" name="Google Shape;151;p7"/>
          <p:cNvGrpSpPr/>
          <p:nvPr/>
        </p:nvGrpSpPr>
        <p:grpSpPr>
          <a:xfrm>
            <a:off x="7315200" y="5440680"/>
            <a:ext cx="4145400" cy="857400"/>
            <a:chOff x="0" y="0"/>
            <a:chExt cx="4145400" cy="857400"/>
          </a:xfrm>
        </p:grpSpPr>
        <p:sp>
          <p:nvSpPr>
            <p:cNvPr id="152" name="Google Shape;152;p7"/>
            <p:cNvSpPr/>
            <p:nvPr/>
          </p:nvSpPr>
          <p:spPr>
            <a:xfrm>
              <a:off x="0" y="0"/>
              <a:ext cx="4145400" cy="857400"/>
            </a:xfrm>
            <a:prstGeom prst="roundRect">
              <a:avLst>
                <a:gd fmla="val 11111" name="adj"/>
              </a:avLst>
            </a:prstGeom>
            <a:solidFill>
              <a:srgbClr val="0E1A2E"/>
            </a:solidFill>
            <a:ln cap="flat" cmpd="sng" w="14300">
              <a:solidFill>
                <a:srgbClr val="1E3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 txBox="1"/>
            <p:nvPr/>
          </p:nvSpPr>
          <p:spPr>
            <a:xfrm>
              <a:off x="133350" y="76200"/>
              <a:ext cx="38787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Arial"/>
                <a:buNone/>
              </a:pPr>
              <a:r>
                <a:rPr b="1" i="0" lang="en-US" sz="1450" u="none" cap="none" strike="noStrike">
                  <a:solidFill>
                    <a:srgbClr val="00D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Conteneurs Docker Hub</a:t>
              </a:r>
              <a:endParaRPr b="1" i="0" sz="145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Images cliner-frontend et cliner-mlops-worker construites et publiées automatiquement.</a:t>
              </a:r>
              <a:endParaRPr b="0" i="0" sz="135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675" y="1595588"/>
            <a:ext cx="5835000" cy="4306775"/>
          </a:xfrm>
          <a:prstGeom prst="rect">
            <a:avLst/>
          </a:prstGeom>
          <a:solidFill>
            <a:srgbClr val="0E1A2E"/>
          </a:solidFill>
          <a:ln cap="flat" cmpd="sng" w="143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731520" y="304800"/>
            <a:ext cx="77724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MLOps Continu, Dérive Wasserstein &amp; FinOps</a:t>
            </a:r>
            <a:endParaRPr b="1" i="0" sz="22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31520" y="952500"/>
            <a:ext cx="5212200" cy="4076700"/>
          </a:xfrm>
          <a:prstGeom prst="roundRect">
            <a:avLst>
              <a:gd fmla="val 3738" name="adj"/>
            </a:avLst>
          </a:prstGeom>
          <a:solidFill>
            <a:srgbClr val="0E1A2E"/>
          </a:solidFill>
          <a:ln cap="flat" cmpd="sng" w="14300">
            <a:solidFill>
              <a:srgbClr val="00D2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 Dérive Sémantique (Wasserstein)</a:t>
            </a:r>
            <a:endParaRPr b="1" i="0" sz="19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Veille Hebdomadaire Automatisée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 cron GitHub Actions chaque lundi à 02h00 UTC (100% Free Tier, 0,00 € de coût).</a:t>
            </a:r>
            <a:endParaRPr b="1" i="0" sz="15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Distance de Wasserstein (W)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Projection BioBERT 768d des 5 dernières études insérées vs barycentre Gold Standard CHIA.</a:t>
            </a:r>
            <a:endParaRPr b="1" i="0" sz="15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Seuil Décisionnel Robuste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W &lt;= 0.15 (stable -&gt; arrêt 0,00 €). Si W &gt; 0.15 (alerte dérive -&gt; réentraînement).</a:t>
            </a:r>
            <a:endParaRPr b="1" i="0" sz="15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Immunité Multi-Pathologies 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CHIA couvrant toute la médecine, pas de drift lors d'alternance cardio/oncologie sauf rupture thérapeutique (CRISPR).</a:t>
            </a:r>
            <a:endParaRPr b="1" i="0" sz="15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217920" y="952500"/>
            <a:ext cx="5212200" cy="4076700"/>
          </a:xfrm>
          <a:prstGeom prst="roundRect">
            <a:avLst>
              <a:gd fmla="val 3738" name="adj"/>
            </a:avLst>
          </a:prstGeom>
          <a:solidFill>
            <a:srgbClr val="0E1A2E"/>
          </a:solidFill>
          <a:ln cap="flat" cmpd="sng" w="14300">
            <a:solidFill>
              <a:srgbClr val="00FF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💰 Orchestration FinOps EC2 (Auto-Kill)</a:t>
            </a:r>
            <a:endParaRPr b="1" i="0" sz="20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Zéro Serveur Allumé en Attente : </a:t>
            </a:r>
            <a:r>
              <a:rPr b="0" i="0" lang="en-US" sz="16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L'instance AWS EC2 GPU g4dn.xlarge reste éteinte (stopped = 0,00 €/h).</a:t>
            </a:r>
            <a:endParaRPr b="1" i="0" sz="16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Pilotage Dynamique Boto3 : </a:t>
            </a:r>
            <a:r>
              <a:rPr b="0" i="0" lang="en-US" sz="16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Quand W &gt; 0.15, ec2_manager.py démarre l'instance en 45s, exécute le LoRA en 20 min et pousse sur S3.</a:t>
            </a:r>
            <a:endParaRPr b="1" i="0" sz="16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Auto-Kill Systématique (10s) : </a:t>
            </a:r>
            <a:r>
              <a:rPr b="0" i="0" lang="en-US" sz="16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Extinction immédiate dans bloc finally: ou via minuteur GitHub Actions deploy_ec2_autokill.yml.</a:t>
            </a:r>
            <a:endParaRPr b="1" i="0" sz="16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Bilan Coût Réel : </a:t>
            </a:r>
            <a:r>
              <a:rPr b="0" i="0" lang="en-US" sz="16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~0,17 € / réentraînement (vs 380 €/mois GPU 24/7), soit </a:t>
            </a:r>
            <a:r>
              <a:rPr b="1" i="0" lang="en-US" sz="16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99.9% d'économie</a:t>
            </a:r>
            <a:r>
              <a:rPr b="0" i="0" lang="en-US" sz="16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budget Cloud.</a:t>
            </a:r>
            <a:endParaRPr b="1" i="0" sz="16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31520" y="5181600"/>
            <a:ext cx="10698600" cy="1295400"/>
          </a:xfrm>
          <a:prstGeom prst="roundRect">
            <a:avLst>
              <a:gd fmla="val 11764" name="adj"/>
            </a:avLst>
          </a:prstGeom>
          <a:solidFill>
            <a:srgbClr val="081C34"/>
          </a:solidFill>
          <a:ln cap="flat" cmpd="sng" w="1905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🏆 Conclusion &amp; Perspectives d'Évolution (AIL Niveau 7)</a:t>
            </a:r>
            <a:endParaRPr b="1" i="0" sz="18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Scalabilité Multi-LoRA par spécialité  |  • Déploiement SLM On-Premise en milieu hospitalier sécurisé</a:t>
            </a:r>
            <a:endParaRPr b="1" i="0" sz="15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CliNER-MLOps réconcilie rigueur clinique, excellence DevSecOps et frugalité FinOps.</a:t>
            </a:r>
            <a:endParaRPr b="1" i="0" sz="1500" u="none" cap="none" strike="noStrike">
              <a:solidFill>
                <a:srgbClr val="00FF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
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1675"/>
  <p:notesSz cx="6858000" cy="9144000"/>
  <p:embeddedFontLst>
    <p:embeddedFont>
      <p:font typeface="Quattrocento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trRCwm2KTVKloNUUo0UCIbNXzE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hris GILLERO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QuattrocentoSans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font" Target="fonts/QuattrocentoSans-italic.fntdata"/><Relationship Id="rId14" Type="http://schemas.openxmlformats.org/officeDocument/2006/relationships/font" Target="fonts/QuattrocentoSans-bold.fntdata"/><Relationship Id="rId17" Type="http://customschemas.google.com/relationships/presentationmetadata" Target="metadata"/><Relationship Id="rId16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19T12:38:01.827">
    <p:pos x="6000" y="0"/>
    <p:text>Ce que fait le medecin - en 4 clics
- Clic 1: Il tape une maladie: Par exemple 'Cancer du poumon'. Le systeme interroge instantanement 450 000 essais mondiaux et affiche une liste filtree en temps reel.
- Clic 2: Il explore les essais disponibles: Un tableau interactif lui montre les etudes qui recrutent: quelle phase, quelle molecule testee, dans quels hopitaux. Tout en direct, sans delai.
- Clic 3: Il lance l'analyse IA: En 3 secondes, l'IA extrait les criteres cles: maladie ciblee, medicaments testes, seuils biologiques, contre-indications absolues.
- Clic 4: Il pose une question libre: 'Mon patient a 72 ans et un diabete de type 2, peut-il participer?' - l'IA repond en citant exactement le paragraphe du protocole officiel.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HUzyfrE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bad6c11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bad6c111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ace1ec67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fbace1ec67_0_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hyperlink" Target="http://drive.google.com/file/d/17VvWFkSVFY9oTJwOOuX9ZSb_iLslAbaQ/view" TargetMode="External"/><Relationship Id="rId5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286000" y="333375"/>
            <a:ext cx="7620000" cy="400200"/>
          </a:xfrm>
          <a:prstGeom prst="roundRect">
            <a:avLst>
              <a:gd fmla="val 50000" name="adj"/>
            </a:avLst>
          </a:prstGeom>
          <a:solidFill>
            <a:srgbClr val="0A182E"/>
          </a:solidFill>
          <a:ln cap="flat" cmpd="sng" w="14300">
            <a:solidFill>
              <a:srgbClr val="00D2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DEMO DAY 25 septembre 2026 - ARCHITECTE EN INTELLIGENCE ARTIFICIELLE - RNCP 41993 NIVEAU 7</a:t>
            </a:r>
            <a:endParaRPr b="1" i="0" sz="1050" u="none" cap="none" strike="noStrike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62000" y="904875"/>
            <a:ext cx="10668000" cy="10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CliNER – L'IA qui lit les protocoles médicaux à votre place</a:t>
            </a:r>
            <a:endParaRPr b="1" i="0" sz="32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Trouver le bon essai clinique pour le bon patient – en 3 secondes au lieu de 45 minutes grace au</a:t>
            </a:r>
            <a:endParaRPr b="0" i="0" sz="16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Named Entity Recognition (NER) </a:t>
            </a:r>
            <a:endParaRPr b="0" i="0" sz="1600" u="none" cap="none" strike="noStrike">
              <a:solidFill>
                <a:srgbClr val="00D2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333500" y="5953125"/>
            <a:ext cx="9525000" cy="476400"/>
          </a:xfrm>
          <a:prstGeom prst="rect">
            <a:avLst/>
          </a:prstGeom>
          <a:solidFill>
            <a:srgbClr val="031A1D"/>
          </a:solidFill>
          <a:ln cap="flat" cmpd="sng" w="14300">
            <a:solidFill>
              <a:srgbClr val="00FF88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FF88"/>
                </a:solidFill>
                <a:latin typeface="Calibri"/>
                <a:ea typeface="Calibri"/>
                <a:cs typeface="Calibri"/>
                <a:sym typeface="Calibri"/>
              </a:rPr>
              <a:t>Notre mission : donner aux médecins le bon essai clinique, pour le bon patient, en 3 secondes.</a:t>
            </a:r>
            <a:endParaRPr b="1" i="0" sz="1250" u="none" cap="none" strike="noStrike">
              <a:solidFill>
                <a:srgbClr val="00FF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0" l="1522" r="1513" t="0"/>
          <a:stretch/>
        </p:blipFill>
        <p:spPr>
          <a:xfrm>
            <a:off x="3000375" y="2047875"/>
            <a:ext cx="6191400" cy="3619500"/>
          </a:xfrm>
          <a:prstGeom prst="roundRect">
            <a:avLst>
              <a:gd fmla="val 421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2208270" y="357195"/>
            <a:ext cx="777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Pourquoi ce projet ? Un problème qui coûte des vies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731520" y="1005840"/>
            <a:ext cx="5212080" cy="512064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64575" lIns="182875" spcFirstLastPara="1" rIns="1828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43F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 qui se passe aujourd'hui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- 450 000 essais cliniques dans le monde: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Chacun décrit dans un document de 100 à 200 pages de jargon medical dense. Impossible a exploiter manuellement.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- 45 minutes par essai et par </a:t>
            </a:r>
            <a:r>
              <a:rPr b="1" lang="en-US" sz="1500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médecin</a:t>
            </a: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C'est le temps qu'un oncologue consacre à lire un seul protocole pour vérifier si un patient est </a:t>
            </a:r>
            <a:r>
              <a:rPr lang="en-US" sz="15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éligible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avant </a:t>
            </a:r>
            <a:r>
              <a:rPr lang="en-US" sz="15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même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 le soigner.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- 80%* des essais cliniques sont en retard: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cause principale: on ne trouve pas assez de patients à temps. Des molécules potentiellement révolutionnaires n'arrivent jamais jusqu'aux malades.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ChatGPT ne résout pas ce problème: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Une IA generaliste invente des posologies, melange des molecules, et envoie des donnees de sante sur des serveurs étrangers. Inacceptable en milieu medical.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217920" y="1005840"/>
            <a:ext cx="5212080" cy="512064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64575" lIns="182875" spcFirstLastPara="1" rIns="1828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 que CliNER fait a la place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- 3 secondes - pas 45 minutes: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médecin sélectionne un essai. Notre IA lit l'intégralité du protocole, identifie les criteres d'eligibilite et génère un tableau structuré.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Zero invention, zero erreur medicale: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L'IA ne peut citer que ce qui est écrit dans le vrai document. Aucune posologie inventee, aucune contre-indication manquante.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- 100% souverain - données en France: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Aucune donnée médicale ne quitte nos serveurs sécurisés. Conformite RGPD et HDS (Hébergeur de Donnees de Sante) garantie.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Un assistant, pas un remplacant: </a:t>
            </a:r>
            <a:r>
              <a:rPr b="0" i="0" lang="en-US" sz="15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médecin garde le contrôle. CliNER lui fait gagner des heures pour qu'il se concentre sur ses patients.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31520" y="6236208"/>
            <a:ext cx="107259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8C9BAF"/>
                </a:solidFill>
                <a:latin typeface="Calibri"/>
                <a:ea typeface="Calibri"/>
                <a:cs typeface="Calibri"/>
                <a:sym typeface="Calibri"/>
              </a:rPr>
              <a:t>* Sources: Tufts CSDD (Pr. K. Getz) &amp; Sully et al. (Trials Journal, BMC/NIH, 2013) - 80 à 86% des essais cliniques mondiaux subissent des retards critiques de recrutement.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/>
        </p:nvSpPr>
        <p:spPr>
          <a:xfrm>
            <a:off x="2200425" y="329000"/>
            <a:ext cx="808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Demonstration Live - Voyez par vous-meme !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6" title="CliNER — Clinical NER - Google Chrome 2026-07-31 14-53-48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7675" y="1066100"/>
            <a:ext cx="9909602" cy="56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/>
        </p:nvSpPr>
        <p:spPr>
          <a:xfrm>
            <a:off x="457200" y="73152"/>
            <a:ext cx="11274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Comment ca marche ? - Le circuit complet de la donnée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457200" y="594360"/>
            <a:ext cx="112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 la question du médecin au résultat structuré - et comment l'IA s'améliore d'elle-même chaque semaine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ch_vulgarized_demoday_1789820031006.jpg" id="108" name="Google Shape;10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713" y="922375"/>
            <a:ext cx="9954249" cy="55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ad6c1116_0_0"/>
          <p:cNvSpPr txBox="1"/>
          <p:nvPr/>
        </p:nvSpPr>
        <p:spPr>
          <a:xfrm>
            <a:off x="3410832" y="357800"/>
            <a:ext cx="537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Secret du NER - </a:t>
            </a:r>
            <a:r>
              <a:rPr b="1" lang="en-US" sz="2100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Améliorations</a:t>
            </a:r>
            <a:r>
              <a:rPr b="1" lang="en-US" sz="2100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 prod</a:t>
            </a:r>
            <a:endParaRPr sz="1500"/>
          </a:p>
        </p:txBody>
      </p:sp>
      <p:sp>
        <p:nvSpPr>
          <p:cNvPr id="114" name="Google Shape;114;g3fbad6c1116_0_0"/>
          <p:cNvSpPr/>
          <p:nvPr/>
        </p:nvSpPr>
        <p:spPr>
          <a:xfrm>
            <a:off x="731520" y="1005840"/>
            <a:ext cx="5212200" cy="539490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64575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 Secret du NER (Reconnaissance d'Entites Medicales)</a:t>
            </a:r>
            <a:endParaRPr sz="17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Sans NER: l'IA se noie et invente: 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 on envoie directement un protocole de 150 pages a une IA généraliste, elle lit tout d'un bloc - elle confond une contre-indication avec un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critère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d'inclusion, rate les negations ('le patient NE doit PAS avoir de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diabète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') et finit par halluciner des posologies.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Avec NER: l'IA lit comme un expert: 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Notre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système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apprend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à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reconnaître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et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étiqueter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automatiquement les termes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médicaux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clés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dans un texte: les maladies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ciblées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(Condition), les medicaments testes (Drug), les actes medicaux (Procedure), les seuils biologiques (Measurement). Comme un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médecin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qui surligne les passages importants avant de les lire.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Comment on le </a:t>
            </a:r>
            <a:r>
              <a:rPr b="1" lang="en-US" sz="1300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maintien</a:t>
            </a: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 jour: 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Chaque semaine, notre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système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compare automatiquement les nouveaux essais aux anciens. Si le vocabulaire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médical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évolué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(nouveaux traitements, nouvelles pathologies), il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détecte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la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dérive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et se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réentrainement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seul en 20 minutes - pour le prix d'un cafe.</a:t>
            </a:r>
            <a:endParaRPr sz="1700"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Resultat: 58,3% de precision sur les criteres les plus complexes: 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31% de mieux qu'une IA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généraliste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non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spécialisée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avec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zéro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invention de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molécule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ou de posologie.</a:t>
            </a:r>
            <a:endParaRPr sz="1700"/>
          </a:p>
        </p:txBody>
      </p:sp>
      <p:sp>
        <p:nvSpPr>
          <p:cNvPr id="115" name="Google Shape;115;g3fbad6c1116_0_0"/>
          <p:cNvSpPr/>
          <p:nvPr/>
        </p:nvSpPr>
        <p:spPr>
          <a:xfrm>
            <a:off x="6217920" y="1005840"/>
            <a:ext cx="5212200" cy="5394900"/>
          </a:xfrm>
          <a:prstGeom prst="roundRect">
            <a:avLst>
              <a:gd fmla="val 16667" name="adj"/>
            </a:avLst>
          </a:prstGeom>
          <a:solidFill>
            <a:srgbClr val="0E1A2E"/>
          </a:solidFill>
          <a:ln cap="flat" cmpd="sng" w="12700">
            <a:solidFill>
              <a:srgbClr val="00FF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164575" lIns="182875" spcFirstLastPara="1" rIns="182875" wrap="square" tIns="164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0FF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Ameliorations Envisagees en Production</a:t>
            </a:r>
            <a:endParaRPr sz="17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Multi-specialite: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Étendre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modèle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à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la cardiologie, neurologie, pediatrie - avec des adaptateurs LoRA specifiques par domaine therapeutique.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Connexion directe au Dossier Patient (DPI/EHR): 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Interfacer CliNER avec les logiciels hospitaliers (Orbis, Crossway) pour proposer automatiquement les essais compatibles avec les dossiers patients ouverts.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Alertes en temps reel: 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Notifier le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médecin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dès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qu'un nouvel essai correspondant au profil de son patient est ouvert au recrutement.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Compatibilite FHIR: 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Adopter le standard international d'echange de donnees de sante (FHIR R4) pour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s'intégrer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dans n'importe quel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écosystème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hospitalier mondial.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Modele On-Premise (sans cloud):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Déployer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un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modèle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léger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directement dans l'infrastructure interne de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l'hôpital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zéro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donnée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médicale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transmise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à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l'extérieur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zero dependance cloud.</a:t>
            </a:r>
            <a:endParaRPr sz="17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Score de confiance par critere: 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Afficher un pourcentage de certitude pour chaque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critère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extrait - le </a:t>
            </a:r>
            <a:r>
              <a:rPr lang="en-US" sz="1300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médecin</a:t>
            </a:r>
            <a:r>
              <a:rPr b="0" i="0" lang="en-US" sz="1300" u="none" cap="none" strike="noStrike">
                <a:solidFill>
                  <a:srgbClr val="F1F5F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sait d'un coup d'oeil quels passages sont certains et lesquels doivent etre verifies.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3fbace1ec67_0_250"/>
          <p:cNvPicPr preferRelativeResize="0"/>
          <p:nvPr/>
        </p:nvPicPr>
        <p:blipFill rotWithShape="1">
          <a:blip r:embed="rId3">
            <a:alphaModFix/>
          </a:blip>
          <a:srcRect b="20" l="0" r="0" t="20"/>
          <a:stretch/>
        </p:blipFill>
        <p:spPr>
          <a:xfrm>
            <a:off x="3434676" y="1547675"/>
            <a:ext cx="5322300" cy="3015900"/>
          </a:xfrm>
          <a:prstGeom prst="roundRect">
            <a:avLst>
              <a:gd fmla="val 5228" name="adj"/>
            </a:avLst>
          </a:prstGeom>
          <a:noFill/>
          <a:ln>
            <a:noFill/>
          </a:ln>
        </p:spPr>
      </p:pic>
      <p:sp>
        <p:nvSpPr>
          <p:cNvPr id="121" name="Google Shape;121;g3fbace1ec67_0_250"/>
          <p:cNvSpPr txBox="1"/>
          <p:nvPr/>
        </p:nvSpPr>
        <p:spPr>
          <a:xfrm>
            <a:off x="1757975" y="4801150"/>
            <a:ext cx="8675700" cy="16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i="0" lang="en-US" sz="74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MERCI</a:t>
            </a:r>
            <a:endParaRPr b="1" i="0" sz="7400" u="none" cap="none" strike="noStrike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 toute l'équipe :</a:t>
            </a:r>
            <a:endParaRPr b="1" i="0" sz="1200" u="none" cap="none" strike="noStrike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Patrick Mouliom • Christopher Gilleron •  Arnaud Hoarau • Karim Atebata</a:t>
            </a:r>
            <a:endParaRPr b="0" i="0" sz="1400" u="none" cap="none" strike="noStrike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bace1ec67_0_250"/>
          <p:cNvSpPr/>
          <p:nvPr/>
        </p:nvSpPr>
        <p:spPr>
          <a:xfrm>
            <a:off x="2285825" y="679250"/>
            <a:ext cx="7620000" cy="400200"/>
          </a:xfrm>
          <a:prstGeom prst="roundRect">
            <a:avLst>
              <a:gd fmla="val 50000" name="adj"/>
            </a:avLst>
          </a:prstGeom>
          <a:solidFill>
            <a:srgbClr val="0A182E"/>
          </a:solidFill>
          <a:ln cap="flat" cmpd="sng" w="14300">
            <a:solidFill>
              <a:srgbClr val="00D2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DEMO DAY 25 septembre 2026 - ARCHITECTE EN INTELLIGENCE ARTIFICIELLE - RNCP 41993 NIVEAU 7</a:t>
            </a:r>
            <a:endParaRPr b="1" i="0" sz="1250" u="none" cap="none" strike="noStrike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25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